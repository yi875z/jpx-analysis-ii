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9810C7-B5A4-437F-BACF-E5243909FF92}">
  <a:tblStyle styleId="{249810C7-B5A4-437F-BACF-E5243909FF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75597" y="2347019"/>
            <a:ext cx="644080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JPX需給分析システム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28950" y="3442394"/>
            <a:ext cx="61341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操作・運用マニュアル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28950" y="4093815"/>
            <a:ext cx="6134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最終更新: 2026-04-12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システム全体像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358479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完全自動化された週次レポート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901404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JPXが毎週木曜に公表する「投資部門別売買状況」を自動取得・分析し、AIレポートとExcelを生成するシステムです。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6750" y="374430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3745259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データ取得: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JPXサイトから現物XLS・先物CSVをダウンロード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" y="413289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4133850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データ処理: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パース後、Supabase（クラウドDB）へ保存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" y="452148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4522440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AI分析: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Zスコア・統計分析・Claude APIによるレポート生成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6750" y="49100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4911030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配信通知: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更新されたExcelと共にGmailへ自動送信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1967"/>
            <a:ext cx="11049000" cy="490671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15"/>
          <p:cNvGraphicFramePr/>
          <p:nvPr/>
        </p:nvGraphicFramePr>
        <p:xfrm>
          <a:off x="581025" y="14614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{249810C7-B5A4-437F-BACF-E5243909FF92}</a:tableStyleId>
              </a:tblPr>
              <a:tblGrid>
                <a:gridCol w="2205925"/>
                <a:gridCol w="2757475"/>
                <a:gridCol w="6066525"/>
              </a:tblGrid>
              <a:tr h="69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内部名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表示名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見るポイント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9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foreign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海外投資家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最重要。トレンドの方向性を決める主要プレイヤー。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individual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個人投資家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逆張り傾向。海外と逆方向なら典型的な相場パターン。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trust_bank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信託銀行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GPIFリバランス。急落時の買いは年金の底値拾いを示唆。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inv_trust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投資信託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アクティブ運用とパッシブ運用が混在したフロー。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corporate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事業法人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自社株買い主体。下落局面での強力なサポートライン。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dealer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自己 (証券会社)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デルタヘッジ等、主に機械的なフローを反映。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" name="Google Shape;112;p15"/>
          <p:cNvSpPr/>
          <p:nvPr/>
        </p:nvSpPr>
        <p:spPr>
          <a:xfrm>
            <a:off x="581025" y="2035819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2786955" y="2035819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544442" y="2035819"/>
            <a:ext cx="6066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81025" y="2753915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2786955" y="275391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544442" y="2753915"/>
            <a:ext cx="6066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81025" y="3472011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2786955" y="347201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544442" y="3472011"/>
            <a:ext cx="6066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81025" y="4190107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2786955" y="419010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544442" y="4190107"/>
            <a:ext cx="6066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81025" y="4908202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2786955" y="490820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544442" y="4908202"/>
            <a:ext cx="6066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81025" y="5626298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2786955" y="5626298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544442" y="5626298"/>
            <a:ext cx="6066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49946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対象投資家区分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5420"/>
            <a:ext cx="3429000" cy="2895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75420"/>
            <a:ext cx="3429000" cy="2895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75420"/>
            <a:ext cx="3429000" cy="2895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152400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木曜日20時にPCの電源が入っていれば、何もしなくても自動で実行されます。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45857" y="3223170"/>
            <a:ext cx="22802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n8n スケジュール起動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66775" y="3680370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Docker環境で設定されたスケジュールに沿って起動し、Supabase無料版のスリープ解除を実施します。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080873" y="3223170"/>
            <a:ext cx="20302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スクリプト一括実行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76775" y="3680370"/>
            <a:ext cx="2838450" cy="952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main.py が自動実行され、データ取得、DB保存、Zスコア計算、AIレポート生成までを完遂します。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905875" y="3223170"/>
            <a:ext cx="2000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完了メール自動送信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486775" y="3680370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処理完了後、生成された週次AIレポートとExcelファイルを指定のGmailアドレスへ通知します。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51832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51832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518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毎週の自動実行フロー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5286375" cy="4204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24000"/>
            <a:ext cx="5286375" cy="420424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962025" y="1914525"/>
            <a:ext cx="224028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通常・特定週実行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962025" y="2409825"/>
            <a:ext cx="2133600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962025" y="2619375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通常の週次実行: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(木曜以外に実行すると直近金曜分を取得)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62025" y="3863280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特定週の手動指定: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724650" y="1914525"/>
            <a:ext cx="286035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再生成・バックフィル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6724650" y="2409825"/>
            <a:ext cx="2724150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6724650" y="2619375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レポートのみ再生成: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724650" y="3588990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Excel再生成: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724650" y="4558605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過去データ一括取得 (バックフィル):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手動実行コマンド一覧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2400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14375" y="152304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09625" y="1524000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週次AIレポート (Markdown):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毎週のメール送付内容。マクロ環境、現物・先物の投資家別動向、合算ネット、戦略示唆を記載します。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14375" y="248879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09625" y="2489745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Excelファイル (現物_週次シート):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各投資家の買い越し・売り越し額と、統計的な異常値を示す「Zスコアヒートマップ」を収録しています。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14375" y="345453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09625" y="3455491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Excelファイル (チャート類):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外国人投資家のネット棒グラフや4週移動平均チャート、6投資家の比較ラインチャートを確認可能です。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14375" y="442028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09625" y="4421237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月次サマリー: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月別合算ネット（現物＋先物）を最新月優先で一覧表示します。</a:t>
            </a:r>
            <a:endParaRPr/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533525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出力ファイルの見方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37941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19"/>
          <p:cNvGraphicFramePr/>
          <p:nvPr/>
        </p:nvGraphicFramePr>
        <p:xfrm>
          <a:off x="581025" y="15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{249810C7-B5A4-437F-BACF-E5243909FF92}</a:tableStyleId>
              </a:tblPr>
              <a:tblGrid>
                <a:gridCol w="2757475"/>
                <a:gridCol w="2757475"/>
                <a:gridCol w="5514975"/>
              </a:tblGrid>
              <a:tr h="5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Zスコア範囲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意味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40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濃青 (Dark Blue)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+2.0以上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統計的に異常な買い越し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淡青 (Light Blue)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+1.0以上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やや強めの買い越し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グレー (Gray)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-1.0 〜 +1.0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通常範囲内の動き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淡赤 (Light Red)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-1.0以下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やや強めの売り越し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91B1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濃赤 (Dark Red)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-2.0以下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統計的に異常な売り越し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19"/>
          <p:cNvSpPr txBox="1"/>
          <p:nvPr/>
        </p:nvSpPr>
        <p:spPr>
          <a:xfrm>
            <a:off x="581025" y="5293816"/>
            <a:ext cx="11029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※注意事項: 最初の3週はZスコア計算に必要なデータが不足するため空白になります。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 4週目から算出を開始し、52週分のデータが揃ってから統計的に最も信頼できる値になります。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81025" y="210785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3338512" y="210785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096000" y="2107852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81025" y="269646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3338512" y="269646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6096000" y="2696467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581025" y="3285083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338512" y="3285083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096000" y="3285083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581025" y="3873698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3338512" y="3873698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096000" y="3873698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81025" y="4462313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3338512" y="4462313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6096000" y="4462313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Zスコアヒートマップの見方 (Excel)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137493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571500" y="1137493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n8nの再起動（Docker）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71500" y="1680418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動作が不安定な場合は、PowerShellで以下を実行します：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71500" y="3735883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Supabaseの復旧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571500" y="4278808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無料プランは7日間アクセスなしで自動停止するため、復旧が必要です。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95325" y="4969311"/>
            <a:ext cx="114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09625" y="4970264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supabase.com/dashboard を開く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57225" y="5338851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09625" y="5339804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プロジェクトを選択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57225" y="5708392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09625" y="5709344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「Restore project」をクリック（1〜2分待機）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57225" y="6077932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09625" y="6078884"/>
            <a:ext cx="5048250" cy="403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復旧後に手動で main.py を実行</a:t>
            </a:r>
            <a:endParaRPr/>
          </a:p>
        </p:txBody>
      </p:sp>
      <p:pic>
        <p:nvPicPr>
          <p:cNvPr descr="image.png" id="225" name="Google Shape;2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147018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571500" y="184993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システム復旧とDB操作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392965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3" name="Google Shape;233;p21"/>
          <p:cNvGraphicFramePr/>
          <p:nvPr/>
        </p:nvGraphicFramePr>
        <p:xfrm>
          <a:off x="581025" y="15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{249810C7-B5A4-437F-BACF-E5243909FF92}</a:tableStyleId>
              </a:tblPr>
              <a:tblGrid>
                <a:gridCol w="2757475"/>
                <a:gridCol w="3308900"/>
                <a:gridCol w="4963575"/>
              </a:tblGrid>
              <a:tr h="651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症状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想定される原因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対処方法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51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メールが来ない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Docker/n8nが停止している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Docker起動確認後、n8nの「Active」トグルを確認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メールは来たがエラー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main.py の処理中に失敗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logs/jpx_YYYYMMDD.log のエラー内容を確認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Anthropic APIエラー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APIクレジットの残高不足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console.anthropic.com でクレジットをチャージ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JPXサイト404エラー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サイトURLの仕様変更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scripts/fetch_jpx.py 内のURLを更新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Excelが開けない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ファイルが破損している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scripts/build_excel.py で再生成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21"/>
          <p:cNvSpPr/>
          <p:nvPr/>
        </p:nvSpPr>
        <p:spPr>
          <a:xfrm>
            <a:off x="581025" y="210785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338512" y="2107852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6647408" y="2107852"/>
            <a:ext cx="49635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581025" y="269646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3338512" y="2696467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6647408" y="2696467"/>
            <a:ext cx="49635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581025" y="3414563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3338512" y="3414563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6647408" y="3414563"/>
            <a:ext cx="49635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81025" y="4003178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3338512" y="4003178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647408" y="4003178"/>
            <a:ext cx="49635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581025" y="4721274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3338512" y="4721274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647408" y="4721274"/>
            <a:ext cx="49635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6. よくあるトラブルと対処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803201"/>
            <a:ext cx="8572500" cy="351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295275" y="736401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既知の制限・注意事項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571500" y="5892998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システム管理者: y.ioku1973@gmail.com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2200275" y="2193726"/>
            <a:ext cx="81810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weekly_statsテーブルのZスコアについて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2200275" y="2669976"/>
            <a:ext cx="7791450" cy="807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バックフィル時に誤った計算値が保存されています。ただし、Excel出力は weekly_stats テーブルを使わず、spot_history から直接ローリング計算するため実害はありません。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2200275" y="3763267"/>
            <a:ext cx="81810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過去54週分のレポート内Zスコア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2200275" y="4239517"/>
            <a:ext cx="779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過去分のMarkdownレポート内にあるZスコアは、バックフィル生成の仕様上、誤った値が記載されています。最新週（2026-04-03以降）のデータは正確です。</a:t>
            </a:r>
            <a:endParaRPr/>
          </a:p>
        </p:txBody>
      </p:sp>
      <p:pic>
        <p:nvPicPr>
          <p:cNvPr descr="image.png" id="262" name="Google Shape;26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275" y="22413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00275" y="3810892"/>
            <a:ext cx="1714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/>
          <p:nvPr/>
        </p:nvSpPr>
        <p:spPr>
          <a:xfrm>
            <a:off x="571500" y="152400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571500" y="230877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71500" y="22992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571500" y="22992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71500" y="32821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571500" y="32821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5" name="Google Shape;27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34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 txBox="1"/>
          <p:nvPr/>
        </p:nvSpPr>
        <p:spPr>
          <a:xfrm>
            <a:off x="1666875" y="166687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https://miro.medium.com/1*OYOqpHg4a3wVd5jUKvS9fg.png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1666875" y="19125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descr="image.png" id="278" name="Google Shape;27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573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1666875" y="245164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https://png.pngtree.com/thumb_back/fw800/background/20251123/pngtree-a-modern-trading-desk-with-multiple-monitors-displaying-financial-charts-and-image_20553359.webp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1666875" y="289545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281" name="Google Shape;28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410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1666875" y="343450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https://img.freepik.com/premium-photo/abstract-glowing-cloud-chip-interface-dark-background-cloud-computing-technology-database-3d-rendering_670147-2131.jpg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1666875" y="368022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